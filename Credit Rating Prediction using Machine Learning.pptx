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8" r:id="rId21"/>
    <p:sldId id="275" r:id="rId22"/>
    <p:sldId id="279" r:id="rId23"/>
    <p:sldId id="277" r:id="rId24"/>
    <p:sldId id="280" r:id="rId25"/>
    <p:sldId id="281" r:id="rId26"/>
    <p:sldId id="282" r:id="rId27"/>
    <p:sldId id="287" r:id="rId28"/>
    <p:sldId id="283" r:id="rId29"/>
    <p:sldId id="284" r:id="rId30"/>
    <p:sldId id="285" r:id="rId31"/>
    <p:sldId id="286" r:id="rId32"/>
    <p:sldId id="276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87" d="100"/>
          <a:sy n="87" d="100"/>
        </p:scale>
        <p:origin x="115" y="-3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3407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8081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197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3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981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0938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869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7293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813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66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023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0F9E4-7EC1-48BE-BD17-3E42FB9CE931}" type="datetimeFigureOut">
              <a:rPr lang="en-IN" smtClean="0"/>
              <a:t>30-03-2025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38F45-0529-4184-8D71-DE0179CE378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078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9495" y="656536"/>
            <a:ext cx="9144000" cy="2387600"/>
          </a:xfrm>
        </p:spPr>
        <p:txBody>
          <a:bodyPr>
            <a:normAutofit/>
          </a:bodyPr>
          <a:lstStyle/>
          <a:p>
            <a:r>
              <a:rPr lang="en-US" sz="5400" dirty="0" smtClean="0">
                <a:latin typeface="Bahnschrift Condensed" panose="020B0502040204020203" pitchFamily="34" charset="0"/>
              </a:rPr>
              <a:t>Credit Rating Prediction using Machine Learning</a:t>
            </a:r>
            <a:endParaRPr lang="en-IN" sz="5400" dirty="0">
              <a:latin typeface="Bahnschrift Condensed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76400" y="4939133"/>
            <a:ext cx="2472906" cy="1090732"/>
          </a:xfrm>
        </p:spPr>
        <p:txBody>
          <a:bodyPr>
            <a:normAutofit/>
          </a:bodyPr>
          <a:lstStyle/>
          <a:p>
            <a:pPr algn="l"/>
            <a:r>
              <a:rPr lang="en-US" sz="2000" dirty="0" smtClean="0">
                <a:latin typeface="Bahnschrift Condensed" panose="020B0502040204020203" pitchFamily="34" charset="0"/>
              </a:rPr>
              <a:t>Presented By:</a:t>
            </a:r>
          </a:p>
          <a:p>
            <a:pPr algn="l"/>
            <a:r>
              <a:rPr lang="en-US" sz="2000" b="1" dirty="0" smtClean="0">
                <a:latin typeface="Bahnschrift Condensed" panose="020B0502040204020203" pitchFamily="34" charset="0"/>
              </a:rPr>
              <a:t>Josmin Theresa Babu</a:t>
            </a:r>
            <a:endParaRPr lang="en-IN" sz="2000" b="1" dirty="0">
              <a:latin typeface="Bahnschrift Condensed" panose="020B0502040204020203" pitchFamily="34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1676400" y="3374876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 smtClean="0"/>
              <a:t>A case study on modeling corporate </a:t>
            </a:r>
            <a:r>
              <a:rPr lang="en-US" sz="2800" dirty="0" smtClean="0">
                <a:latin typeface="Arial Narrow" panose="020B0606020202030204" pitchFamily="34" charset="0"/>
              </a:rPr>
              <a:t>creditworthiness</a:t>
            </a:r>
            <a:r>
              <a:rPr lang="en-US" sz="2800" dirty="0" smtClean="0"/>
              <a:t> from financial data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01008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Bahnschrift Condensed" panose="020B0502040204020203" pitchFamily="34" charset="0"/>
              </a:rPr>
              <a:t>Agenda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240" y="1459865"/>
            <a:ext cx="10515600" cy="4351338"/>
          </a:xfrm>
        </p:spPr>
        <p:txBody>
          <a:bodyPr>
            <a:normAutofit/>
          </a:bodyPr>
          <a:lstStyle/>
          <a:p>
            <a:r>
              <a:rPr lang="en-IN" dirty="0" smtClean="0"/>
              <a:t>Objective</a:t>
            </a:r>
          </a:p>
          <a:p>
            <a:r>
              <a:rPr lang="en-IN" dirty="0" smtClean="0"/>
              <a:t>Dataset Overview</a:t>
            </a:r>
          </a:p>
          <a:p>
            <a:r>
              <a:rPr lang="en-IN" dirty="0" smtClean="0"/>
              <a:t>Data Cleaning Strategy (TOMI)</a:t>
            </a:r>
          </a:p>
          <a:p>
            <a:r>
              <a:rPr lang="en-IN" dirty="0" smtClean="0"/>
              <a:t>Exploratory Data Analysis (EDA)</a:t>
            </a:r>
          </a:p>
          <a:p>
            <a:r>
              <a:rPr lang="en-IN" dirty="0" smtClean="0"/>
              <a:t>Modelling Approach &amp; Challenges</a:t>
            </a:r>
          </a:p>
          <a:p>
            <a:r>
              <a:rPr lang="en-IN" dirty="0" smtClean="0"/>
              <a:t>Model Evaluation</a:t>
            </a:r>
          </a:p>
          <a:p>
            <a:r>
              <a:rPr lang="en-IN" dirty="0" smtClean="0"/>
              <a:t>Key Findings</a:t>
            </a:r>
          </a:p>
          <a:p>
            <a:r>
              <a:rPr lang="en-IN" dirty="0" smtClean="0"/>
              <a:t>Next Steps / Q&amp;A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2290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Bahnschrift Condensed" panose="020B0502040204020203" pitchFamily="34" charset="0"/>
              </a:rPr>
              <a:t>Project Overview &amp; Objective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6832"/>
            <a:ext cx="10515600" cy="4921054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Business Context</a:t>
            </a:r>
          </a:p>
          <a:p>
            <a:pPr marL="0" indent="0">
              <a:buNone/>
            </a:pPr>
            <a:r>
              <a:rPr lang="en-US" sz="2000" dirty="0" smtClean="0"/>
              <a:t>Credit ratings help investors and institutions assess the creditworthiness of companies. Ratings like AAA, BB, or C reflect the company’s financial health and default risk.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Objective</a:t>
            </a:r>
          </a:p>
          <a:p>
            <a:pPr marL="0" indent="0">
              <a:buNone/>
            </a:pPr>
            <a:r>
              <a:rPr lang="en-US" sz="2000" dirty="0" smtClean="0"/>
              <a:t>To build a machine learning model that can accurately predict corporate credit ratings using financial indicators, making the credit assessment process faster, scalable, and more data-driven.</a:t>
            </a:r>
          </a:p>
          <a:p>
            <a:pPr marL="0" indent="0">
              <a:buNone/>
            </a:pPr>
            <a:r>
              <a:rPr lang="en-US" sz="2000" b="1" dirty="0" smtClean="0"/>
              <a:t>Why it matters:</a:t>
            </a:r>
          </a:p>
          <a:p>
            <a:r>
              <a:rPr lang="en-US" sz="2000" dirty="0" smtClean="0"/>
              <a:t>Credit ratings influence investment decisions, borrowing costs, and risk perception</a:t>
            </a:r>
          </a:p>
          <a:p>
            <a:r>
              <a:rPr lang="en-US" sz="2000" dirty="0" smtClean="0"/>
              <a:t>Traditional methods rely on manual assessments by rating agencies.</a:t>
            </a:r>
          </a:p>
          <a:p>
            <a:r>
              <a:rPr lang="en-US" sz="2000" dirty="0" smtClean="0"/>
              <a:t>Automating this process with ML can reduce time, human bias, and enhance early warning systems.</a:t>
            </a:r>
            <a:endParaRPr lang="en-US" sz="2000" b="1" dirty="0" smtClean="0"/>
          </a:p>
        </p:txBody>
      </p:sp>
    </p:spTree>
    <p:extLst>
      <p:ext uri="{BB962C8B-B14F-4D97-AF65-F5344CB8AC3E}">
        <p14:creationId xmlns:p14="http://schemas.microsoft.com/office/powerpoint/2010/main" val="39642789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Bahnschrift Condensed" panose="020B0502040204020203" pitchFamily="34" charset="0"/>
              </a:rPr>
              <a:t>Data Overview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402930"/>
            <a:ext cx="10240109" cy="483396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Size &amp; Shape</a:t>
            </a:r>
          </a:p>
          <a:p>
            <a:r>
              <a:rPr lang="en-IN" sz="2000" dirty="0" smtClean="0"/>
              <a:t>Total Records : 2434</a:t>
            </a:r>
          </a:p>
          <a:p>
            <a:r>
              <a:rPr lang="en-US" sz="2000" dirty="0" smtClean="0"/>
              <a:t>Total Features : 30</a:t>
            </a:r>
          </a:p>
          <a:p>
            <a:r>
              <a:rPr lang="en-US" sz="2000" dirty="0" smtClean="0"/>
              <a:t>Target Variable : Rating (AAA to D)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 smtClean="0"/>
              <a:t>Feature Types:</a:t>
            </a:r>
          </a:p>
          <a:p>
            <a:pPr marL="0" indent="0">
              <a:buNone/>
            </a:pPr>
            <a:r>
              <a:rPr lang="en-US" sz="2000" dirty="0" smtClean="0"/>
              <a:t>Financial ratios, that helps assess the company’s</a:t>
            </a:r>
          </a:p>
          <a:p>
            <a:r>
              <a:rPr lang="en-US" sz="2000" b="1" dirty="0" smtClean="0"/>
              <a:t>Liquidity</a:t>
            </a:r>
            <a:r>
              <a:rPr lang="en-US" sz="2000" dirty="0" smtClean="0"/>
              <a:t> :which show a company’s ability to pay short-term obligations.</a:t>
            </a:r>
          </a:p>
          <a:p>
            <a:r>
              <a:rPr lang="en-US" sz="2000" b="1" dirty="0" smtClean="0"/>
              <a:t>Profitability </a:t>
            </a:r>
            <a:r>
              <a:rPr lang="en-US" sz="2000" dirty="0" smtClean="0"/>
              <a:t>: measure how effectively a company generates profit.</a:t>
            </a:r>
          </a:p>
          <a:p>
            <a:r>
              <a:rPr lang="en-US" sz="2000" b="1" dirty="0" smtClean="0"/>
              <a:t>Leverage</a:t>
            </a:r>
            <a:r>
              <a:rPr lang="en-US" sz="2000" dirty="0" smtClean="0"/>
              <a:t>: indicating how much debt the company carries.</a:t>
            </a:r>
          </a:p>
          <a:p>
            <a:r>
              <a:rPr lang="en-US" sz="2000" b="1" dirty="0" smtClean="0"/>
              <a:t>Efficiency</a:t>
            </a:r>
            <a:r>
              <a:rPr lang="en-US" sz="2000" dirty="0"/>
              <a:t> </a:t>
            </a:r>
            <a:r>
              <a:rPr lang="en-US" sz="2000" dirty="0" smtClean="0"/>
              <a:t>: showing how well the company uses its assets.</a:t>
            </a:r>
          </a:p>
          <a:p>
            <a:r>
              <a:rPr lang="en-US" sz="2000" b="1" dirty="0" smtClean="0"/>
              <a:t>Cash Flow </a:t>
            </a:r>
            <a:r>
              <a:rPr lang="en-US" sz="2000" dirty="0" smtClean="0"/>
              <a:t>: revealing how stable the company’s actual cash generation is.</a:t>
            </a:r>
          </a:p>
          <a:p>
            <a:pPr marL="0" indent="0">
              <a:buNone/>
            </a:pPr>
            <a:r>
              <a:rPr lang="en-US" sz="2000" b="1" dirty="0" smtClean="0"/>
              <a:t>Categorical</a:t>
            </a:r>
            <a:r>
              <a:rPr lang="en-US" sz="2000" dirty="0" smtClean="0"/>
              <a:t> : Sectors, Rating Agency Name, Company Name</a:t>
            </a:r>
          </a:p>
          <a:p>
            <a:pPr marL="0" indent="0">
              <a:buNone/>
            </a:pPr>
            <a:endParaRPr lang="en-IN" sz="2400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56498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5068" y="816335"/>
            <a:ext cx="10515600" cy="560171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>
                <a:latin typeface="Bahnschrift Condensed" panose="020B0502040204020203" pitchFamily="34" charset="0"/>
              </a:rPr>
              <a:t>Initial Observations</a:t>
            </a:r>
          </a:p>
          <a:p>
            <a:r>
              <a:rPr lang="en-US" sz="2000" dirty="0" smtClean="0"/>
              <a:t>Presence of missing values, duplicates and outliers</a:t>
            </a:r>
          </a:p>
          <a:p>
            <a:pPr marL="0" indent="0">
              <a:buNone/>
            </a:pPr>
            <a:r>
              <a:rPr lang="en-US" sz="2000" dirty="0" smtClean="0">
                <a:latin typeface="Bahnschrift Condensed" panose="020B0502040204020203" pitchFamily="34" charset="0"/>
              </a:rPr>
              <a:t>    Duplicate : 405 rows</a:t>
            </a:r>
          </a:p>
          <a:p>
            <a:r>
              <a:rPr lang="en-US" sz="2000" dirty="0" smtClean="0"/>
              <a:t>Severe imbalance observed: AAA, C, D have &lt; 10 instances, while BBB has 671. This directly  impacted model performance</a:t>
            </a:r>
          </a:p>
          <a:p>
            <a:r>
              <a:rPr lang="en-US" sz="2000" dirty="0" smtClean="0"/>
              <a:t>Features are all numeric and scaled differently</a:t>
            </a:r>
          </a:p>
          <a:p>
            <a:r>
              <a:rPr lang="en-US" sz="2000" dirty="0" smtClean="0"/>
              <a:t>Large variance in scales (e.g., cashRatio vs returnOnAssets) </a:t>
            </a:r>
            <a:endParaRPr lang="en-US" sz="2000" dirty="0"/>
          </a:p>
          <a:p>
            <a:endParaRPr lang="en-US" sz="2000" dirty="0" smtClean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endParaRPr lang="en-US" sz="2000" dirty="0" smtClean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endParaRPr lang="en-US" sz="2000" dirty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endParaRPr lang="en-US" sz="2000" dirty="0" smtClean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en-US" sz="2000" dirty="0">
                <a:latin typeface="Bahnschrift Condensed" panose="020B0502040204020203" pitchFamily="34" charset="0"/>
              </a:rPr>
              <a:t> </a:t>
            </a:r>
            <a:r>
              <a:rPr lang="en-US" sz="2000" dirty="0" smtClean="0">
                <a:latin typeface="Bahnschrift Condensed" panose="020B0502040204020203" pitchFamily="34" charset="0"/>
              </a:rPr>
              <a:t>                 </a:t>
            </a:r>
            <a:endParaRPr lang="en-IN" sz="2000" dirty="0">
              <a:latin typeface="Bahnschrift Condensed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04" y="4015152"/>
            <a:ext cx="3324689" cy="11050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7784" y="3667463"/>
            <a:ext cx="3724795" cy="2448267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402" y="3636842"/>
            <a:ext cx="2086266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94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Bahnschrift Condensed" panose="020B0502040204020203" pitchFamily="34" charset="0"/>
              </a:rPr>
              <a:t>Data Cleaning Strategy – TOMI + KNN Imputation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8339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 smtClean="0"/>
              <a:t>TOMI</a:t>
            </a:r>
            <a:r>
              <a:rPr lang="en-US" sz="1800" dirty="0" smtClean="0"/>
              <a:t> (Treatment of Outliers as Missing with Imputation) was used to handle both outliers and missing values in a unified, robust manner.</a:t>
            </a:r>
            <a:endParaRPr lang="en-IN" sz="1800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 smtClean="0"/>
              <a:t>Why TOMI?</a:t>
            </a:r>
          </a:p>
          <a:p>
            <a:r>
              <a:rPr lang="en-US" sz="1800" dirty="0" smtClean="0"/>
              <a:t>Outliers were treated as missing values instead of dropping or capping them, preserving useful patterns.</a:t>
            </a:r>
          </a:p>
          <a:p>
            <a:r>
              <a:rPr lang="en-US" sz="1800" dirty="0" smtClean="0"/>
              <a:t>This approach avoids harsh transformations and lets the imputer fill values based on data distribution.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1800" b="1" dirty="0" smtClean="0"/>
              <a:t>Imputation with KNN</a:t>
            </a:r>
          </a:p>
          <a:p>
            <a:r>
              <a:rPr lang="en-US" sz="1800" b="1" dirty="0" smtClean="0"/>
              <a:t>KNN Imputation</a:t>
            </a:r>
            <a:r>
              <a:rPr lang="en-US" sz="1800" dirty="0" smtClean="0"/>
              <a:t> was used instead of median:</a:t>
            </a:r>
          </a:p>
          <a:p>
            <a:r>
              <a:rPr lang="en-US" sz="1800" b="1" dirty="0" smtClean="0"/>
              <a:t>Median </a:t>
            </a:r>
            <a:r>
              <a:rPr lang="en-US" sz="1800" dirty="0" smtClean="0"/>
              <a:t>reduces variability – especially problematic for skewed financial data like </a:t>
            </a:r>
            <a:r>
              <a:rPr lang="en-US" sz="1800" b="1" dirty="0" smtClean="0"/>
              <a:t>CashPerShare</a:t>
            </a:r>
          </a:p>
          <a:p>
            <a:r>
              <a:rPr lang="en-US" sz="1800" b="1" dirty="0" smtClean="0"/>
              <a:t>KNN </a:t>
            </a:r>
            <a:r>
              <a:rPr lang="en-US" sz="1800" dirty="0" smtClean="0"/>
              <a:t>retains natural variance by imputing values based on nearest neighbors.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800" b="1" dirty="0" smtClean="0"/>
              <a:t>Outcome</a:t>
            </a:r>
          </a:p>
          <a:p>
            <a:r>
              <a:rPr lang="en-US" sz="1800" dirty="0" smtClean="0"/>
              <a:t>Effectively addressed outliers and missing values.</a:t>
            </a:r>
          </a:p>
          <a:p>
            <a:r>
              <a:rPr lang="en-US" sz="1800" dirty="0" smtClean="0"/>
              <a:t>Preserved feature distributions and variance</a:t>
            </a:r>
          </a:p>
          <a:p>
            <a:r>
              <a:rPr lang="en-US" sz="1800" dirty="0" smtClean="0"/>
              <a:t>Clean, imputed data ready for modelling</a:t>
            </a:r>
            <a:endParaRPr lang="en-IN" sz="1800" dirty="0" smtClean="0"/>
          </a:p>
          <a:p>
            <a:endParaRPr lang="en-US" sz="1800" dirty="0" smtClean="0"/>
          </a:p>
          <a:p>
            <a:pPr marL="0" indent="0">
              <a:buNone/>
            </a:pPr>
            <a:endParaRPr lang="en-IN" sz="2400" dirty="0" smtClean="0"/>
          </a:p>
          <a:p>
            <a:endParaRPr lang="en-IN" sz="2400" dirty="0" smtClean="0"/>
          </a:p>
          <a:p>
            <a:endParaRPr lang="en-IN" sz="2400" dirty="0" smtClean="0"/>
          </a:p>
        </p:txBody>
      </p:sp>
    </p:spTree>
    <p:extLst>
      <p:ext uri="{BB962C8B-B14F-4D97-AF65-F5344CB8AC3E}">
        <p14:creationId xmlns:p14="http://schemas.microsoft.com/office/powerpoint/2010/main" val="2308587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1145" y="687328"/>
            <a:ext cx="8119759" cy="43513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43797" y="5038665"/>
            <a:ext cx="1069675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TOMI (Treatment of Outlier data as Missing using Imputation) is not an aggressive clipping method — it identifies only statistically extreme values (beyond 3 IQR or z-score thresholds) as true outliers and treats them as missing.</a:t>
            </a:r>
          </a:p>
          <a:p>
            <a:r>
              <a:rPr lang="en-US" dirty="0" smtClean="0"/>
              <a:t>Then, instead of replacing these with medians or fixed bounds, we use </a:t>
            </a:r>
            <a:r>
              <a:rPr lang="en-US" b="1" dirty="0" smtClean="0"/>
              <a:t>KNN imputation</a:t>
            </a:r>
            <a:r>
              <a:rPr lang="en-US" dirty="0" smtClean="0"/>
              <a:t> to estimate values more naturally based on their nearest neighbors in the dataset.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7232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Bahnschrift Condensed" panose="020B0502040204020203" pitchFamily="34" charset="0"/>
              </a:rPr>
              <a:t>Exploratory Data Analysis (EDA)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b="1" dirty="0" smtClean="0"/>
              <a:t>Distribution of Credit Ratings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965" y="2234243"/>
            <a:ext cx="7641386" cy="349369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19199" y="5665569"/>
            <a:ext cx="96845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Severe class imbalance observed. Majority ratings are clustered around BBB and BB. Very few examples of AAA or 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254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10551"/>
            <a:ext cx="10515600" cy="58664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2. Correlation Between Features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072" y="668772"/>
            <a:ext cx="8029754" cy="514997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967597" y="5715298"/>
            <a:ext cx="108939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Most features show </a:t>
            </a:r>
            <a:r>
              <a:rPr lang="en-US" b="1" dirty="0" smtClean="0"/>
              <a:t>moderate or low correlation</a:t>
            </a:r>
            <a:r>
              <a:rPr lang="en-US" dirty="0" smtClean="0"/>
              <a:t> with each other.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Only a few pairs have correlation values </a:t>
            </a:r>
            <a:r>
              <a:rPr lang="en-US" b="1" dirty="0" smtClean="0"/>
              <a:t>above 0.8</a:t>
            </a:r>
            <a:r>
              <a:rPr lang="en-US" dirty="0" smtClean="0"/>
              <a:t>, indicating some </a:t>
            </a:r>
            <a:r>
              <a:rPr lang="en-US" b="1" dirty="0" smtClean="0"/>
              <a:t>mild multicollinearity</a:t>
            </a:r>
            <a:r>
              <a:rPr lang="en-US" dirty="0" smtClean="0"/>
              <a:t>, but nothing alarming.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2295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7479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 smtClean="0"/>
              <a:t>3. Sector Distribution</a:t>
            </a:r>
            <a:endParaRPr lang="en-IN" sz="2400" b="1" dirty="0"/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40" y="1001486"/>
            <a:ext cx="8954219" cy="46893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230248" y="5690814"/>
            <a:ext cx="109082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Highly Skewed Sector Allocation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b="1" dirty="0" smtClean="0"/>
              <a:t>Energy</a:t>
            </a:r>
            <a:r>
              <a:rPr lang="en-US" dirty="0" smtClean="0"/>
              <a:t>, </a:t>
            </a:r>
            <a:r>
              <a:rPr lang="en-US" b="1" dirty="0" smtClean="0"/>
              <a:t>Basic Industries</a:t>
            </a:r>
            <a:r>
              <a:rPr lang="en-US" dirty="0" smtClean="0"/>
              <a:t>, and </a:t>
            </a:r>
            <a:r>
              <a:rPr lang="en-US" b="1" dirty="0" smtClean="0"/>
              <a:t>Consumer Services</a:t>
            </a:r>
            <a:r>
              <a:rPr lang="en-US" dirty="0" smtClean="0"/>
              <a:t> sectors dominate the dataset, each with </a:t>
            </a:r>
            <a:r>
              <a:rPr lang="en-US" b="1" dirty="0" smtClean="0"/>
              <a:t>250+ companies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4427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826" y="341882"/>
            <a:ext cx="10515600" cy="5929522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4.Feature Distribution 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26" y="847528"/>
            <a:ext cx="10470615" cy="491822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6826" y="5948238"/>
            <a:ext cx="97786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plot shows the distribution of key financial ratios after data cleaning. Most features exhibit varying degrees of skewness, indicating that companies differ significantly in financial health.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509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628" y="285815"/>
            <a:ext cx="9987378" cy="635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76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833" y="4584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IN" b="1" dirty="0" smtClean="0"/>
              <a:t>5.Sector vs Rating</a:t>
            </a:r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517" y="914401"/>
            <a:ext cx="10439916" cy="466779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61983" y="5585288"/>
            <a:ext cx="9756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Sector doesn't strongly determine rating: The distribution of ratings is fairly similar across all sectors, meaning no sector appears to inherently guarantee a higher or lower credit rating.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999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3812" y="573874"/>
            <a:ext cx="10515600" cy="565825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6.Features Vs Ratings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383" y="1046504"/>
            <a:ext cx="10176029" cy="471299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382" y="5823752"/>
            <a:ext cx="98364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Why is days of sales outstanding(DSO) higher for AAA companies? Shouldn’t it be lower, since they’re financially strong? Could this be a data entry error?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689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9322" y="538362"/>
            <a:ext cx="10515600" cy="5542841"/>
          </a:xfrm>
        </p:spPr>
        <p:txBody>
          <a:bodyPr>
            <a:normAutofit/>
          </a:bodyPr>
          <a:lstStyle/>
          <a:p>
            <a:r>
              <a:rPr lang="en-US" sz="2400" b="1" dirty="0" smtClean="0"/>
              <a:t>Explaining Sector, DSO, and Credit Ratings</a:t>
            </a:r>
            <a:endParaRPr lang="en-IN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0417" y="953341"/>
            <a:ext cx="8287699" cy="448153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76417" y="5434871"/>
            <a:ext cx="1026850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Technology</a:t>
            </a:r>
            <a:r>
              <a:rPr lang="en-US" dirty="0" smtClean="0"/>
              <a:t>, </a:t>
            </a:r>
            <a:r>
              <a:rPr lang="en-US" b="1" dirty="0" smtClean="0"/>
              <a:t>Finance</a:t>
            </a:r>
            <a:r>
              <a:rPr lang="en-US" dirty="0" smtClean="0"/>
              <a:t>, </a:t>
            </a:r>
            <a:r>
              <a:rPr lang="en-US" b="1" dirty="0" smtClean="0"/>
              <a:t>Health Care</a:t>
            </a:r>
            <a:r>
              <a:rPr lang="en-US" dirty="0" smtClean="0"/>
              <a:t>, and </a:t>
            </a:r>
            <a:r>
              <a:rPr lang="en-US" b="1" dirty="0" smtClean="0"/>
              <a:t>Miscellaneous</a:t>
            </a:r>
            <a:r>
              <a:rPr lang="en-US" dirty="0" smtClean="0"/>
              <a:t> have relatively </a:t>
            </a:r>
            <a:r>
              <a:rPr lang="en-US" b="1" dirty="0" smtClean="0"/>
              <a:t>higher DSO</a:t>
            </a:r>
            <a:r>
              <a:rPr lang="en-US" dirty="0" smtClean="0"/>
              <a:t>, often in the range of </a:t>
            </a:r>
            <a:r>
              <a:rPr lang="en-US" b="1" dirty="0" smtClean="0"/>
              <a:t>45–50 days</a:t>
            </a:r>
            <a:r>
              <a:rPr lang="en-US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/>
              <a:t>Transportation</a:t>
            </a:r>
            <a:r>
              <a:rPr lang="en-US" dirty="0" smtClean="0"/>
              <a:t>, </a:t>
            </a:r>
            <a:r>
              <a:rPr lang="en-US" b="1" dirty="0" smtClean="0"/>
              <a:t>Consumer Non-Durables</a:t>
            </a:r>
            <a:r>
              <a:rPr lang="en-US" dirty="0" smtClean="0"/>
              <a:t>, and </a:t>
            </a:r>
            <a:r>
              <a:rPr lang="en-US" b="1" dirty="0" smtClean="0"/>
              <a:t>Basic Industries</a:t>
            </a:r>
            <a:r>
              <a:rPr lang="en-US" dirty="0" smtClean="0"/>
              <a:t> show </a:t>
            </a:r>
            <a:r>
              <a:rPr lang="en-US" b="1" dirty="0" smtClean="0"/>
              <a:t>much lower DSO</a:t>
            </a:r>
            <a:r>
              <a:rPr lang="en-US" dirty="0" smtClean="0"/>
              <a:t>, between </a:t>
            </a:r>
            <a:r>
              <a:rPr lang="en-US" b="1" dirty="0" smtClean="0"/>
              <a:t>28–35 days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674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4905"/>
            <a:ext cx="10515600" cy="566205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endParaRPr lang="en-US" b="1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en-US" sz="3600" b="1" dirty="0" smtClean="0"/>
              <a:t>EDA Summary</a:t>
            </a:r>
          </a:p>
          <a:p>
            <a:pPr marL="0" indent="0">
              <a:buNone/>
            </a:pPr>
            <a:endParaRPr lang="en-US" b="1" dirty="0" smtClean="0"/>
          </a:p>
          <a:p>
            <a:r>
              <a:rPr lang="en-US" dirty="0" smtClean="0"/>
              <a:t>Credit Rating Distribution is Highly Imbalanced</a:t>
            </a:r>
          </a:p>
          <a:p>
            <a:r>
              <a:rPr lang="en-US" dirty="0" smtClean="0"/>
              <a:t>Low to Moderate Feature Correlations</a:t>
            </a:r>
          </a:p>
          <a:p>
            <a:r>
              <a:rPr lang="en-IN" dirty="0" smtClean="0"/>
              <a:t>Sector Distribution is Skewed</a:t>
            </a:r>
          </a:p>
          <a:p>
            <a:r>
              <a:rPr lang="en-IN" dirty="0" smtClean="0"/>
              <a:t>Feature Distributions Are Skewed</a:t>
            </a:r>
          </a:p>
          <a:p>
            <a:r>
              <a:rPr lang="en-US" dirty="0" smtClean="0"/>
              <a:t>Sector Doesn't Strongly Predict Rating Alone</a:t>
            </a:r>
          </a:p>
          <a:p>
            <a:r>
              <a:rPr lang="en-US" dirty="0"/>
              <a:t>T</a:t>
            </a:r>
            <a:r>
              <a:rPr lang="en-US" dirty="0" smtClean="0"/>
              <a:t>he importance of </a:t>
            </a:r>
            <a:r>
              <a:rPr lang="en-US" b="1" dirty="0" smtClean="0"/>
              <a:t>context-aware feature interpretation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4298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>
                <a:latin typeface="Bahnschrift Condensed" panose="020B0502040204020203" pitchFamily="34" charset="0"/>
              </a:rPr>
              <a:t>Model Building &amp; Challenges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50125"/>
            <a:ext cx="10515600" cy="4713923"/>
          </a:xfrm>
        </p:spPr>
        <p:txBody>
          <a:bodyPr>
            <a:noAutofit/>
          </a:bodyPr>
          <a:lstStyle/>
          <a:p>
            <a:r>
              <a:rPr lang="en-US" sz="2400" b="1" dirty="0" smtClean="0"/>
              <a:t>Objective</a:t>
            </a:r>
            <a:r>
              <a:rPr lang="en-US" sz="2400" dirty="0" smtClean="0"/>
              <a:t>: Build a machine learning model to predict credit ratings based on financial features (Multi-classification problem)</a:t>
            </a:r>
          </a:p>
          <a:p>
            <a:r>
              <a:rPr lang="en-US" sz="2400" b="1" dirty="0" smtClean="0"/>
              <a:t>Input Features</a:t>
            </a:r>
            <a:r>
              <a:rPr lang="en-US" sz="2400" dirty="0" smtClean="0"/>
              <a:t>: Financial ratios + encoded sector</a:t>
            </a:r>
          </a:p>
          <a:p>
            <a:r>
              <a:rPr lang="en-US" sz="2400" b="1" dirty="0" smtClean="0"/>
              <a:t>Target</a:t>
            </a:r>
            <a:r>
              <a:rPr lang="en-US" sz="2400" dirty="0" smtClean="0"/>
              <a:t> : Rating (AAA to D)</a:t>
            </a:r>
          </a:p>
          <a:p>
            <a:r>
              <a:rPr lang="en-US" sz="2400" b="1" dirty="0" smtClean="0"/>
              <a:t>Models used </a:t>
            </a:r>
            <a:r>
              <a:rPr lang="en-US" sz="2400" dirty="0" smtClean="0"/>
              <a:t>: Logistics Regression , Decision Tree , Random Forest , </a:t>
            </a:r>
            <a:r>
              <a:rPr lang="en-US" sz="2400" dirty="0" smtClean="0"/>
              <a:t>XGBoost</a:t>
            </a:r>
            <a:endParaRPr lang="en-US" sz="2400" dirty="0" smtClean="0"/>
          </a:p>
          <a:p>
            <a:r>
              <a:rPr lang="en-US" sz="2400" dirty="0" smtClean="0"/>
              <a:t> </a:t>
            </a:r>
            <a:r>
              <a:rPr lang="en-US" sz="2400" b="1" dirty="0" smtClean="0"/>
              <a:t>Evaluation Metrics </a:t>
            </a:r>
            <a:r>
              <a:rPr lang="en-US" sz="2400" dirty="0" smtClean="0"/>
              <a:t>: Recall, Precision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b="1" dirty="0" smtClean="0"/>
              <a:t>Key Modeling Challenges</a:t>
            </a:r>
          </a:p>
          <a:p>
            <a:r>
              <a:rPr lang="en-IN" sz="2400" dirty="0" smtClean="0"/>
              <a:t>Severe Class Imbalance</a:t>
            </a:r>
          </a:p>
          <a:p>
            <a:r>
              <a:rPr lang="en-IN" sz="2400" dirty="0" smtClean="0"/>
              <a:t>Multi-Class Complexity</a:t>
            </a:r>
          </a:p>
          <a:p>
            <a:r>
              <a:rPr lang="en-IN" sz="2400" dirty="0" smtClean="0"/>
              <a:t>Rare Class Overfitting</a:t>
            </a:r>
          </a:p>
          <a:p>
            <a:r>
              <a:rPr lang="en-IN" sz="2400" dirty="0" smtClean="0"/>
              <a:t>SMOTE Limitations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406376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694" y="276045"/>
            <a:ext cx="10515600" cy="6191671"/>
          </a:xfrm>
        </p:spPr>
        <p:txBody>
          <a:bodyPr>
            <a:normAutofit fontScale="775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3600" b="1" dirty="0" smtClean="0"/>
              <a:t>Model Building Pipeline </a:t>
            </a:r>
          </a:p>
          <a:p>
            <a:pPr marL="0" indent="0">
              <a:buNone/>
            </a:pPr>
            <a:r>
              <a:rPr lang="en-IN" sz="2600" b="1" dirty="0" smtClean="0"/>
              <a:t>1.Data Preparation </a:t>
            </a:r>
            <a:r>
              <a:rPr lang="en-IN" sz="2600" dirty="0" smtClean="0"/>
              <a:t>(handling null value, outliers)</a:t>
            </a:r>
          </a:p>
          <a:p>
            <a:pPr marL="0" indent="0">
              <a:buNone/>
            </a:pPr>
            <a:r>
              <a:rPr lang="en-US" sz="2600" b="1" dirty="0"/>
              <a:t>2</a:t>
            </a:r>
            <a:r>
              <a:rPr lang="en-US" sz="2600" b="1" dirty="0" smtClean="0"/>
              <a:t>.Encoding</a:t>
            </a:r>
            <a:endParaRPr lang="en-US" sz="2600" dirty="0"/>
          </a:p>
          <a:p>
            <a:r>
              <a:rPr lang="en-US" sz="2600" dirty="0" smtClean="0"/>
              <a:t>Ratings (AAA to D) mapped to numeric values (0 to 9) and grouped labelling.</a:t>
            </a:r>
          </a:p>
          <a:p>
            <a:r>
              <a:rPr lang="en-US" sz="2600" dirty="0" smtClean="0"/>
              <a:t>Applied frequency encoding to the 'Sector' feature.</a:t>
            </a:r>
          </a:p>
          <a:p>
            <a:pPr marL="0" indent="0">
              <a:buNone/>
            </a:pPr>
            <a:r>
              <a:rPr lang="en-US" sz="2600" b="1" dirty="0"/>
              <a:t>3</a:t>
            </a:r>
            <a:r>
              <a:rPr lang="en-US" sz="2600" dirty="0" smtClean="0"/>
              <a:t>. </a:t>
            </a:r>
            <a:r>
              <a:rPr lang="en-US" sz="2600" b="1" dirty="0" smtClean="0"/>
              <a:t>Feature Scaling</a:t>
            </a:r>
          </a:p>
          <a:p>
            <a:r>
              <a:rPr lang="en-US" sz="2600" b="1" dirty="0" smtClean="0"/>
              <a:t> </a:t>
            </a:r>
            <a:r>
              <a:rPr lang="en-US" sz="2600" dirty="0" smtClean="0"/>
              <a:t>Used </a:t>
            </a:r>
            <a:r>
              <a:rPr lang="en-US" sz="2600" b="1" dirty="0" smtClean="0"/>
              <a:t>RobustScaler</a:t>
            </a:r>
            <a:r>
              <a:rPr lang="en-US" sz="2600" dirty="0" smtClean="0"/>
              <a:t> to handle outliers effectively.</a:t>
            </a:r>
            <a:endParaRPr lang="en-US" sz="2600" b="1" dirty="0" smtClean="0"/>
          </a:p>
          <a:p>
            <a:pPr marL="0" indent="0">
              <a:buNone/>
            </a:pPr>
            <a:r>
              <a:rPr lang="en-US" sz="2600" b="1" dirty="0"/>
              <a:t>4</a:t>
            </a:r>
            <a:r>
              <a:rPr lang="en-US" sz="2600" b="1" dirty="0" smtClean="0"/>
              <a:t>.Modelling Strategy</a:t>
            </a:r>
          </a:p>
          <a:p>
            <a:r>
              <a:rPr lang="en-IN" sz="2600" b="1" dirty="0" smtClean="0"/>
              <a:t>Stage 1</a:t>
            </a:r>
            <a:r>
              <a:rPr lang="en-IN" sz="2600" dirty="0" smtClean="0"/>
              <a:t>:Exact Rating Prediction (Multi-Class)</a:t>
            </a:r>
          </a:p>
          <a:p>
            <a:r>
              <a:rPr lang="en-IN" sz="2600" b="1" dirty="0" smtClean="0"/>
              <a:t>Stage 2</a:t>
            </a:r>
            <a:r>
              <a:rPr lang="en-IN" sz="2600" dirty="0" smtClean="0"/>
              <a:t>:Grouped Risk Classification (4 Classes)</a:t>
            </a:r>
          </a:p>
          <a:p>
            <a:pPr marL="0" indent="0">
              <a:buNone/>
            </a:pPr>
            <a:r>
              <a:rPr lang="en-US" sz="2600" b="1" dirty="0"/>
              <a:t>5</a:t>
            </a:r>
            <a:r>
              <a:rPr lang="en-US" sz="2600" b="1" dirty="0" smtClean="0"/>
              <a:t>.Hyperameter Tuning</a:t>
            </a:r>
          </a:p>
          <a:p>
            <a:r>
              <a:rPr lang="en-US" sz="2600" dirty="0" smtClean="0"/>
              <a:t>Performed Grid Search with 5-Fold Cross-Validation on Random Forest and XGBoost</a:t>
            </a:r>
          </a:p>
          <a:p>
            <a:pPr marL="0" indent="0">
              <a:buNone/>
            </a:pPr>
            <a:r>
              <a:rPr lang="en-US" sz="2600" b="1" dirty="0"/>
              <a:t>6</a:t>
            </a:r>
            <a:r>
              <a:rPr lang="en-US" sz="2600" b="1" dirty="0" smtClean="0"/>
              <a:t>.Evaluation Metrics</a:t>
            </a:r>
          </a:p>
          <a:p>
            <a:r>
              <a:rPr lang="en-US" sz="2600" dirty="0" smtClean="0"/>
              <a:t>Used </a:t>
            </a:r>
            <a:r>
              <a:rPr lang="en-US" sz="2600" b="1" dirty="0" smtClean="0"/>
              <a:t>Recall</a:t>
            </a:r>
            <a:r>
              <a:rPr lang="en-US" sz="2600" dirty="0" smtClean="0"/>
              <a:t> and </a:t>
            </a:r>
            <a:r>
              <a:rPr lang="en-US" sz="2600" b="1" dirty="0" smtClean="0"/>
              <a:t>Precision</a:t>
            </a:r>
            <a:r>
              <a:rPr lang="en-US" sz="2600" dirty="0" smtClean="0"/>
              <a:t> as primary metrics due to class imbalance</a:t>
            </a:r>
            <a:endParaRPr lang="en-US" sz="2600" b="1" dirty="0" smtClean="0"/>
          </a:p>
          <a:p>
            <a:pPr marL="0" indent="0">
              <a:buNone/>
            </a:pPr>
            <a:r>
              <a:rPr lang="en-US" sz="2600" b="1" dirty="0" smtClean="0"/>
              <a:t>7.Feature Importance</a:t>
            </a:r>
          </a:p>
          <a:p>
            <a:r>
              <a:rPr lang="en-US" sz="2600" dirty="0" smtClean="0"/>
              <a:t>Evaluated important features using model-based importance from Random Forest.</a:t>
            </a:r>
            <a:endParaRPr lang="en-US" sz="2600" b="1" dirty="0" smtClean="0"/>
          </a:p>
          <a:p>
            <a:pPr marL="0" indent="0">
              <a:buNone/>
            </a:pPr>
            <a:r>
              <a:rPr lang="en-US" sz="2600" b="1" dirty="0"/>
              <a:t>8</a:t>
            </a:r>
            <a:r>
              <a:rPr lang="en-US" sz="2600" b="1" dirty="0" smtClean="0"/>
              <a:t>.SHAP Analysis</a:t>
            </a:r>
          </a:p>
          <a:p>
            <a:r>
              <a:rPr lang="en-US" sz="2600" dirty="0" smtClean="0"/>
              <a:t>Making the Model more explainable</a:t>
            </a:r>
          </a:p>
          <a:p>
            <a:pPr marL="0" indent="0">
              <a:buNone/>
            </a:pPr>
            <a:endParaRPr lang="en-US" b="1" dirty="0" smtClean="0"/>
          </a:p>
          <a:p>
            <a:endParaRPr lang="en-IN" b="1" dirty="0" smtClean="0"/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01767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0946" y="543464"/>
            <a:ext cx="10772955" cy="56761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Stage 1: Exact Rating Prediction (Multi-Class)</a:t>
            </a:r>
          </a:p>
          <a:p>
            <a:pPr marL="0" indent="0">
              <a:buNone/>
            </a:pPr>
            <a:r>
              <a:rPr lang="en-US" sz="2000" b="1" dirty="0" smtClean="0"/>
              <a:t>Objective</a:t>
            </a:r>
            <a:r>
              <a:rPr lang="en-US" sz="2000" dirty="0" smtClean="0"/>
              <a:t>: Predict exact credit rating (AAA to D) → Multi-class classification (9 classes).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 smtClean="0"/>
              <a:t>Models Used</a:t>
            </a:r>
            <a:endParaRPr lang="en-IN" sz="2000" dirty="0" smtClean="0"/>
          </a:p>
          <a:p>
            <a:r>
              <a:rPr lang="en-IN" sz="2000" b="1" dirty="0" smtClean="0"/>
              <a:t>Baseline Models</a:t>
            </a:r>
            <a:r>
              <a:rPr lang="en-IN" sz="2000" dirty="0" smtClean="0"/>
              <a:t>: Logistic Regression, Decision Tree</a:t>
            </a:r>
          </a:p>
          <a:p>
            <a:r>
              <a:rPr lang="en-US" sz="2000" b="1" dirty="0" smtClean="0"/>
              <a:t>Advanced Models</a:t>
            </a:r>
            <a:r>
              <a:rPr lang="en-US" sz="2000" dirty="0" smtClean="0"/>
              <a:t>: Random Forest, XGBoost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b="1" dirty="0" smtClean="0"/>
              <a:t>Challenges</a:t>
            </a:r>
            <a:endParaRPr lang="en-IN" sz="2000" dirty="0" smtClean="0"/>
          </a:p>
          <a:p>
            <a:r>
              <a:rPr lang="en-US" sz="2000" dirty="0" smtClean="0"/>
              <a:t>Severe class imbalance (some ratings very underrepresented).</a:t>
            </a:r>
          </a:p>
          <a:p>
            <a:r>
              <a:rPr lang="en-US" sz="2000" dirty="0" smtClean="0"/>
              <a:t>Overfitting risk on rare classes due to SMOTE limitations.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b="1" dirty="0" smtClean="0"/>
              <a:t>Evaluation Metrics</a:t>
            </a:r>
            <a:endParaRPr lang="en-US" sz="2000" dirty="0"/>
          </a:p>
          <a:p>
            <a:r>
              <a:rPr lang="en-US" sz="2000" dirty="0" smtClean="0"/>
              <a:t> Precision, Recall (especially important in imbalanced classes)</a:t>
            </a:r>
            <a:endParaRPr lang="en-US" sz="2000" b="1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29487052"/>
              </p:ext>
            </p:extLst>
          </p:nvPr>
        </p:nvGraphicFramePr>
        <p:xfrm>
          <a:off x="7694761" y="1626941"/>
          <a:ext cx="439084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615">
                  <a:extLst>
                    <a:ext uri="{9D8B030D-6E8A-4147-A177-3AD203B41FA5}">
                      <a16:colId xmlns:a16="http://schemas.microsoft.com/office/drawing/2014/main" val="1916267201"/>
                    </a:ext>
                  </a:extLst>
                </a:gridCol>
                <a:gridCol w="1463615">
                  <a:extLst>
                    <a:ext uri="{9D8B030D-6E8A-4147-A177-3AD203B41FA5}">
                      <a16:colId xmlns:a16="http://schemas.microsoft.com/office/drawing/2014/main" val="2910779395"/>
                    </a:ext>
                  </a:extLst>
                </a:gridCol>
                <a:gridCol w="1463615">
                  <a:extLst>
                    <a:ext uri="{9D8B030D-6E8A-4147-A177-3AD203B41FA5}">
                      <a16:colId xmlns:a16="http://schemas.microsoft.com/office/drawing/2014/main" val="2882413286"/>
                    </a:ext>
                  </a:extLst>
                </a:gridCol>
              </a:tblGrid>
              <a:tr h="35086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Numeric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Order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8008137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AAA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9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719102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AA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89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956206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398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4355558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BBB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637632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BB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490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3655628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302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615319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CCC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529534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CC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519964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1970531"/>
                  </a:ext>
                </a:extLst>
              </a:tr>
              <a:tr h="350860">
                <a:tc>
                  <a:txBody>
                    <a:bodyPr/>
                    <a:lstStyle/>
                    <a:p>
                      <a:r>
                        <a:rPr lang="en-US" dirty="0" smtClean="0"/>
                        <a:t>D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960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993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5691" y="284672"/>
            <a:ext cx="10637890" cy="564212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 Condensed" panose="020B0502040204020203" pitchFamily="34" charset="0"/>
              </a:rPr>
              <a:t>Model’s Performance – Stage 1 (Exact Rating Prediction)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206" y="800390"/>
            <a:ext cx="8468017" cy="605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6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3464"/>
            <a:ext cx="10515600" cy="6223094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 smtClean="0"/>
              <a:t>Stage 2: Grouped Risk Classification (4 Classes)</a:t>
            </a:r>
          </a:p>
          <a:p>
            <a:pPr marL="0" indent="0">
              <a:buNone/>
            </a:pPr>
            <a:r>
              <a:rPr lang="en-IN" sz="1800" dirty="0" smtClean="0"/>
              <a:t>Why Group?</a:t>
            </a:r>
          </a:p>
          <a:p>
            <a:r>
              <a:rPr lang="en-US" sz="1800" dirty="0" smtClean="0"/>
              <a:t>SMOTE ineffective when samples &lt; 10 in a class.</a:t>
            </a:r>
          </a:p>
          <a:p>
            <a:r>
              <a:rPr lang="en-US" sz="1800" dirty="0" smtClean="0"/>
              <a:t>Prevents overfitting from duplicated rare records</a:t>
            </a:r>
          </a:p>
          <a:p>
            <a:pPr marL="0" indent="0">
              <a:buNone/>
            </a:pPr>
            <a:r>
              <a:rPr lang="en-IN" sz="2000" b="1" dirty="0" smtClean="0"/>
              <a:t>Group Mapping                                                              Class Distribution     </a:t>
            </a:r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 smtClean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endParaRPr lang="en-IN" sz="2000" b="1" dirty="0" smtClean="0"/>
          </a:p>
          <a:p>
            <a:pPr marL="0" indent="0">
              <a:buNone/>
            </a:pPr>
            <a:endParaRPr lang="en-IN" sz="2000" b="1" dirty="0"/>
          </a:p>
          <a:p>
            <a:pPr marL="0" indent="0">
              <a:buNone/>
            </a:pPr>
            <a:r>
              <a:rPr lang="en-IN" sz="2000" b="1" dirty="0" smtClean="0"/>
              <a:t>         </a:t>
            </a:r>
          </a:p>
          <a:p>
            <a:pPr marL="0" indent="0">
              <a:buNone/>
            </a:pPr>
            <a:endParaRPr lang="en-US" sz="2000" b="1" dirty="0" smtClean="0"/>
          </a:p>
          <a:p>
            <a:pPr marL="0" indent="0">
              <a:buNone/>
            </a:pPr>
            <a:r>
              <a:rPr lang="en-US" sz="2000" b="1" dirty="0" smtClean="0"/>
              <a:t>Modeling Steps:</a:t>
            </a:r>
          </a:p>
          <a:p>
            <a:r>
              <a:rPr lang="en-US" sz="2000" dirty="0" smtClean="0"/>
              <a:t>Trained same 4 models on grouped data.</a:t>
            </a:r>
          </a:p>
          <a:p>
            <a:r>
              <a:rPr lang="en-IN" sz="2000" dirty="0" smtClean="0"/>
              <a:t>Then applied SMOTE to balance class 3 (Highly speculative)</a:t>
            </a:r>
            <a:r>
              <a:rPr lang="en-IN" sz="2000" b="1" dirty="0" smtClean="0"/>
              <a:t>    </a:t>
            </a:r>
          </a:p>
          <a:p>
            <a:r>
              <a:rPr lang="en-IN" sz="2000" dirty="0" smtClean="0"/>
              <a:t>Performed Hyperparameter tuning using GridSerachCV (5-fold cross- validation) for both Random Forest and XGBoost                                              </a:t>
            </a:r>
          </a:p>
          <a:p>
            <a:pPr marL="0" indent="0">
              <a:buNone/>
            </a:pPr>
            <a:endParaRPr lang="en-IN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1498481"/>
              </p:ext>
            </p:extLst>
          </p:nvPr>
        </p:nvGraphicFramePr>
        <p:xfrm>
          <a:off x="6096000" y="2415395"/>
          <a:ext cx="4557624" cy="235501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278812">
                  <a:extLst>
                    <a:ext uri="{9D8B030D-6E8A-4147-A177-3AD203B41FA5}">
                      <a16:colId xmlns:a16="http://schemas.microsoft.com/office/drawing/2014/main" val="935271189"/>
                    </a:ext>
                  </a:extLst>
                </a:gridCol>
                <a:gridCol w="2278812">
                  <a:extLst>
                    <a:ext uri="{9D8B030D-6E8A-4147-A177-3AD203B41FA5}">
                      <a16:colId xmlns:a16="http://schemas.microsoft.com/office/drawing/2014/main" val="3957192290"/>
                    </a:ext>
                  </a:extLst>
                </a:gridCol>
              </a:tblGrid>
              <a:tr h="47100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Label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6713643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dirty="0" smtClean="0"/>
                        <a:t>Investment Grade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792</a:t>
                      </a:r>
                      <a:endParaRPr lang="en-IN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52555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dirty="0" smtClean="0"/>
                        <a:t>Medium Grade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671</a:t>
                      </a:r>
                      <a:endParaRPr lang="en-IN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413334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dirty="0" smtClean="0"/>
                        <a:t>Speculative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494</a:t>
                      </a:r>
                      <a:endParaRPr lang="en-IN"/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6389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smtClean="0"/>
                        <a:t>Highly Speculative</a:t>
                      </a:r>
                      <a:endParaRPr lang="en-IN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IN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15962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96856403"/>
              </p:ext>
            </p:extLst>
          </p:nvPr>
        </p:nvGraphicFramePr>
        <p:xfrm>
          <a:off x="838200" y="2415395"/>
          <a:ext cx="4664978" cy="2355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2489">
                  <a:extLst>
                    <a:ext uri="{9D8B030D-6E8A-4147-A177-3AD203B41FA5}">
                      <a16:colId xmlns:a16="http://schemas.microsoft.com/office/drawing/2014/main" val="3829080103"/>
                    </a:ext>
                  </a:extLst>
                </a:gridCol>
                <a:gridCol w="2332489">
                  <a:extLst>
                    <a:ext uri="{9D8B030D-6E8A-4147-A177-3AD203B41FA5}">
                      <a16:colId xmlns:a16="http://schemas.microsoft.com/office/drawing/2014/main" val="246740106"/>
                    </a:ext>
                  </a:extLst>
                </a:gridCol>
              </a:tblGrid>
              <a:tr h="471002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Grouped label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5948168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dirty="0" smtClean="0"/>
                        <a:t>AAA,AA,A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Investment Grade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790128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smtClean="0"/>
                        <a:t>BBB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Medium Grade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6752044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dirty="0" smtClean="0"/>
                        <a:t>B,BB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Speculative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6142153"/>
                  </a:ext>
                </a:extLst>
              </a:tr>
              <a:tr h="471002">
                <a:tc>
                  <a:txBody>
                    <a:bodyPr/>
                    <a:lstStyle/>
                    <a:p>
                      <a:r>
                        <a:rPr lang="en-US" dirty="0" smtClean="0"/>
                        <a:t>CCC,CC,C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Highly Speculative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5481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0411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91706"/>
            <a:ext cx="10515600" cy="56852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 Condensed" panose="020B0502040204020203" pitchFamily="34" charset="0"/>
              </a:rPr>
              <a:t>Model’s Performance – Stage 2 (Grouped Rating Prediction)</a:t>
            </a:r>
          </a:p>
          <a:p>
            <a:pPr marL="0" indent="0">
              <a:buNone/>
            </a:pPr>
            <a:r>
              <a:rPr lang="en-IN" sz="2400" b="1" dirty="0" smtClean="0"/>
              <a:t>    Before SMOTE</a:t>
            </a:r>
            <a:endParaRPr lang="en-IN" sz="24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306" y="1388853"/>
            <a:ext cx="7798278" cy="5262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9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74453"/>
            <a:ext cx="10515600" cy="570251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 Condensed" panose="020B0502040204020203" pitchFamily="34" charset="0"/>
              </a:rPr>
              <a:t>Performance After SMOTE</a:t>
            </a:r>
          </a:p>
          <a:p>
            <a:pPr marL="0" indent="0">
              <a:buNone/>
            </a:pPr>
            <a:endParaRPr lang="en-US" dirty="0" smtClean="0">
              <a:latin typeface="Bahnschrift Condensed" panose="020B0502040204020203" pitchFamily="34" charset="0"/>
            </a:endParaRPr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42" y="1099895"/>
            <a:ext cx="8013941" cy="53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846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5826"/>
            <a:ext cx="10515600" cy="571113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 smtClean="0">
                <a:latin typeface="Bahnschrift Condensed" panose="020B0502040204020203" pitchFamily="34" charset="0"/>
              </a:rPr>
              <a:t>Model Optimization – Hyperparameter Tuning</a:t>
            </a:r>
          </a:p>
          <a:p>
            <a:pPr marL="0" indent="0">
              <a:buNone/>
            </a:pPr>
            <a:endParaRPr lang="en-IN" dirty="0" smtClean="0">
              <a:latin typeface="Bahnschrift Condensed" panose="020B0502040204020203" pitchFamily="34" charset="0"/>
            </a:endParaRPr>
          </a:p>
          <a:p>
            <a:pPr marL="0" indent="0">
              <a:buNone/>
            </a:pPr>
            <a:r>
              <a:rPr lang="en-IN" sz="2000" b="1" dirty="0" smtClean="0"/>
              <a:t>Why Optimize?</a:t>
            </a:r>
          </a:p>
          <a:p>
            <a:r>
              <a:rPr lang="en-US" sz="1800" dirty="0" smtClean="0"/>
              <a:t>Complex models like </a:t>
            </a:r>
            <a:r>
              <a:rPr lang="en-US" sz="1800" b="1" dirty="0" smtClean="0"/>
              <a:t>Random Forest</a:t>
            </a:r>
            <a:r>
              <a:rPr lang="en-US" sz="1800" dirty="0" smtClean="0"/>
              <a:t> and </a:t>
            </a:r>
            <a:r>
              <a:rPr lang="en-US" sz="1800" b="1" dirty="0" smtClean="0"/>
              <a:t>XGBoost</a:t>
            </a:r>
            <a:r>
              <a:rPr lang="en-US" sz="1800" dirty="0" smtClean="0"/>
              <a:t> underperformed in Stage 2 (low recall for rare class)</a:t>
            </a:r>
          </a:p>
          <a:p>
            <a:r>
              <a:rPr lang="en-US" sz="1800" dirty="0" smtClean="0"/>
              <a:t>Default parameters were </a:t>
            </a:r>
            <a:r>
              <a:rPr lang="en-US" sz="1800" b="1" dirty="0" smtClean="0"/>
              <a:t>not ideal</a:t>
            </a:r>
            <a:r>
              <a:rPr lang="en-US" sz="1800" dirty="0" smtClean="0"/>
              <a:t> for imbalanced, multi-class classification.</a:t>
            </a:r>
          </a:p>
          <a:p>
            <a:pPr marL="0" indent="0">
              <a:buNone/>
            </a:pPr>
            <a:r>
              <a:rPr lang="en-IN" sz="2000" b="1" dirty="0" smtClean="0"/>
              <a:t>Tuning Method:</a:t>
            </a:r>
          </a:p>
          <a:p>
            <a:r>
              <a:rPr lang="en-US" sz="1800" dirty="0" smtClean="0"/>
              <a:t>Applied </a:t>
            </a:r>
            <a:r>
              <a:rPr lang="en-US" sz="1800" b="1" dirty="0" smtClean="0"/>
              <a:t>GridSearchCV</a:t>
            </a:r>
            <a:r>
              <a:rPr lang="en-US" sz="1800" dirty="0" smtClean="0"/>
              <a:t> with </a:t>
            </a:r>
            <a:r>
              <a:rPr lang="en-US" sz="1800" b="1" dirty="0" smtClean="0"/>
              <a:t>5-fold cross-validation.</a:t>
            </a:r>
          </a:p>
          <a:p>
            <a:pPr marL="0" indent="0">
              <a:buNone/>
            </a:pPr>
            <a:r>
              <a:rPr lang="en-IN" sz="1800" b="1" dirty="0" smtClean="0"/>
              <a:t>Random Forest Best Params:     </a:t>
            </a:r>
          </a:p>
          <a:p>
            <a:pPr marL="0" indent="0">
              <a:buNone/>
            </a:pPr>
            <a:r>
              <a:rPr lang="en-US" sz="1800" dirty="0" smtClean="0"/>
              <a:t>{ '</a:t>
            </a:r>
            <a:r>
              <a:rPr lang="en-US" sz="1800" dirty="0" err="1" smtClean="0"/>
              <a:t>n_estimators</a:t>
            </a:r>
            <a:r>
              <a:rPr lang="en-US" sz="1800" dirty="0" smtClean="0"/>
              <a:t>': 200, '</a:t>
            </a:r>
            <a:r>
              <a:rPr lang="en-US" sz="1800" dirty="0" err="1" smtClean="0"/>
              <a:t>max_depth</a:t>
            </a:r>
            <a:r>
              <a:rPr lang="en-US" sz="1800" dirty="0" smtClean="0"/>
              <a:t>': 20,'min_samples_split': 2,'min_samples_leaf': 1,'class_weight': 'balanced'}</a:t>
            </a:r>
          </a:p>
          <a:p>
            <a:pPr marL="0" indent="0">
              <a:buNone/>
            </a:pPr>
            <a:r>
              <a:rPr lang="en-IN" sz="1600" b="1" dirty="0" smtClean="0"/>
              <a:t>XGBoost Best Params:</a:t>
            </a:r>
          </a:p>
          <a:p>
            <a:pPr marL="0" indent="0">
              <a:buNone/>
            </a:pPr>
            <a:r>
              <a:rPr lang="en-IN" sz="1800" dirty="0"/>
              <a:t>{</a:t>
            </a:r>
            <a:r>
              <a:rPr lang="en-IN" sz="1800" dirty="0" smtClean="0"/>
              <a:t>'</a:t>
            </a:r>
            <a:r>
              <a:rPr lang="en-IN" sz="1800" dirty="0" err="1" smtClean="0"/>
              <a:t>colsample</a:t>
            </a:r>
            <a:r>
              <a:rPr lang="en-IN" sz="1800" dirty="0" err="1"/>
              <a:t>_</a:t>
            </a:r>
            <a:r>
              <a:rPr lang="en-IN" sz="1800" dirty="0" err="1" smtClean="0"/>
              <a:t>bytree</a:t>
            </a:r>
            <a:r>
              <a:rPr lang="en-IN" sz="1800" dirty="0"/>
              <a:t>': 1.0, </a:t>
            </a:r>
            <a:r>
              <a:rPr lang="en-IN" sz="1800" dirty="0" smtClean="0"/>
              <a:t>'</a:t>
            </a:r>
            <a:r>
              <a:rPr lang="en-IN" sz="1800" dirty="0" err="1" smtClean="0"/>
              <a:t>learning_rate</a:t>
            </a:r>
            <a:r>
              <a:rPr lang="en-IN" sz="1800" dirty="0"/>
              <a:t>': 0.1, </a:t>
            </a:r>
            <a:r>
              <a:rPr lang="en-IN" sz="1800" dirty="0" smtClean="0"/>
              <a:t>'</a:t>
            </a:r>
            <a:r>
              <a:rPr lang="en-IN" sz="1800" dirty="0" err="1" smtClean="0"/>
              <a:t>max_depth</a:t>
            </a:r>
            <a:r>
              <a:rPr lang="en-IN" sz="1800" dirty="0"/>
              <a:t>': 7, </a:t>
            </a:r>
            <a:r>
              <a:rPr lang="en-IN" sz="1800" dirty="0" smtClean="0"/>
              <a:t>'</a:t>
            </a:r>
            <a:r>
              <a:rPr lang="en-IN" sz="1800" dirty="0" err="1" smtClean="0"/>
              <a:t>n_estimators</a:t>
            </a:r>
            <a:r>
              <a:rPr lang="en-IN" sz="1800" dirty="0"/>
              <a:t>': 200, 'subsample': 0.8</a:t>
            </a:r>
            <a:r>
              <a:rPr lang="en-IN" sz="1800" dirty="0" smtClean="0"/>
              <a:t>}</a:t>
            </a:r>
          </a:p>
          <a:p>
            <a:pPr marL="0" indent="0">
              <a:buNone/>
            </a:pPr>
            <a:endParaRPr lang="en-IN" sz="1800" dirty="0" smtClean="0"/>
          </a:p>
          <a:p>
            <a:pPr marL="0" indent="0">
              <a:buNone/>
            </a:pPr>
            <a:r>
              <a:rPr lang="en-US" sz="1800" b="1" dirty="0" smtClean="0"/>
              <a:t>Goal:</a:t>
            </a:r>
            <a:r>
              <a:rPr lang="en-US" sz="1800" dirty="0" smtClean="0"/>
              <a:t> Improve model’s sensitivity to minority class (Highly Speculative)</a:t>
            </a:r>
            <a:br>
              <a:rPr lang="en-US" sz="1800" dirty="0" smtClean="0"/>
            </a:br>
            <a:r>
              <a:rPr lang="en-US" sz="1800" b="1" dirty="0" smtClean="0"/>
              <a:t>Outcome:</a:t>
            </a:r>
            <a:r>
              <a:rPr lang="en-US" sz="1800" dirty="0" smtClean="0"/>
              <a:t> XGBoost showed </a:t>
            </a:r>
            <a:r>
              <a:rPr lang="en-US" sz="1800" b="1" dirty="0" smtClean="0"/>
              <a:t>best class-wise balance</a:t>
            </a:r>
            <a:r>
              <a:rPr lang="en-US" sz="1800" dirty="0" smtClean="0"/>
              <a:t> after tuning, especially improved recall for class 3</a:t>
            </a:r>
            <a:endParaRPr lang="en-US" sz="1800" b="1" dirty="0" smtClean="0"/>
          </a:p>
          <a:p>
            <a:pPr marL="0" indent="0">
              <a:buNone/>
            </a:pPr>
            <a:endParaRPr lang="en-US" sz="1800" b="1" dirty="0" smtClean="0"/>
          </a:p>
          <a:p>
            <a:endParaRPr lang="en-IN" sz="1800" b="1" dirty="0">
              <a:latin typeface="Bahnschrif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366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00332"/>
            <a:ext cx="10515600" cy="567663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Random Forest Performance After Tuning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73" y="1093578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275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2694"/>
            <a:ext cx="10515600" cy="5754269"/>
          </a:xfrm>
        </p:spPr>
        <p:txBody>
          <a:bodyPr/>
          <a:lstStyle/>
          <a:p>
            <a:r>
              <a:rPr lang="en-US" b="1" dirty="0" smtClean="0"/>
              <a:t>XGBoost Performance After Tuning</a:t>
            </a:r>
          </a:p>
          <a:p>
            <a:endParaRPr lang="en-IN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72" y="1015940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97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2057265"/>
              </p:ext>
            </p:extLst>
          </p:nvPr>
        </p:nvGraphicFramePr>
        <p:xfrm>
          <a:off x="926123" y="1389795"/>
          <a:ext cx="10515603" cy="38416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62455709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62122381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614851193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5009396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1922122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96099530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021748277"/>
                    </a:ext>
                  </a:extLst>
                </a:gridCol>
              </a:tblGrid>
              <a:tr h="1196355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Model</a:t>
                      </a:r>
                      <a:endParaRPr lang="en-IN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(Before SMOTE)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(Before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SMOTE)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(After SMOTE)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(After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SMOTE)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Precision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(After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Tuning)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Recall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(After Tuning)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089491"/>
                  </a:ext>
                </a:extLst>
              </a:tr>
              <a:tr h="837448">
                <a:tc>
                  <a:txBody>
                    <a:bodyPr/>
                    <a:lstStyle/>
                    <a:p>
                      <a:r>
                        <a:rPr lang="en-US" dirty="0" smtClean="0"/>
                        <a:t>Logistics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9832042"/>
                  </a:ext>
                </a:extLst>
              </a:tr>
              <a:tr h="485188">
                <a:tc>
                  <a:txBody>
                    <a:bodyPr/>
                    <a:lstStyle/>
                    <a:p>
                      <a:r>
                        <a:rPr lang="en-US" dirty="0" smtClean="0"/>
                        <a:t>Decision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0.54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-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613643"/>
                  </a:ext>
                </a:extLst>
              </a:tr>
              <a:tr h="837448">
                <a:tc>
                  <a:txBody>
                    <a:bodyPr/>
                    <a:lstStyle/>
                    <a:p>
                      <a:r>
                        <a:rPr lang="en-US" dirty="0" smtClean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0.23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442498"/>
                  </a:ext>
                </a:extLst>
              </a:tr>
              <a:tr h="485188">
                <a:tc>
                  <a:txBody>
                    <a:bodyPr/>
                    <a:lstStyle/>
                    <a:p>
                      <a:r>
                        <a:rPr lang="en-US" dirty="0" smtClean="0"/>
                        <a:t>XGBoost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0.40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437506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1646" y="633045"/>
            <a:ext cx="77899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Bahnschrift Condensed" panose="020B0502040204020203" pitchFamily="34" charset="0"/>
              </a:rPr>
              <a:t>Minority Class (Highly Speculative) Performance Across Models</a:t>
            </a:r>
            <a:endParaRPr lang="en-IN" sz="2800" dirty="0">
              <a:latin typeface="Bahnschrift Condensed" panose="020B0502040204020203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61646" y="5538933"/>
            <a:ext cx="1099917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smtClean="0"/>
              <a:t>This table highlights how each model improved in identifying </a:t>
            </a:r>
            <a:r>
              <a:rPr lang="en-US" b="1" dirty="0" smtClean="0"/>
              <a:t>rare high-risk companies</a:t>
            </a:r>
            <a:r>
              <a:rPr lang="en-US" dirty="0" smtClean="0"/>
              <a:t> through SMOTE and 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XGBoost after tuning</a:t>
            </a:r>
            <a:r>
              <a:rPr lang="en-US" dirty="0" smtClean="0"/>
              <a:t> delivered the best balance between precision and recall, making it the most effective model for </a:t>
            </a:r>
            <a:r>
              <a:rPr lang="en-US" b="1" dirty="0" smtClean="0"/>
              <a:t>sensitive credit risk detection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171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86596"/>
            <a:ext cx="10515600" cy="559036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 smtClean="0">
                <a:latin typeface="Bahnschrift Condensed" panose="020B0502040204020203" pitchFamily="34" charset="0"/>
              </a:rPr>
              <a:t>Feature Importance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728" y="1149767"/>
            <a:ext cx="5908272" cy="502719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88807"/>
            <a:ext cx="5991497" cy="5027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154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 smtClean="0">
                <a:latin typeface="Bahnschrift Condensed" panose="020B0502040204020203" pitchFamily="34" charset="0"/>
              </a:rPr>
              <a:t>SHAP ANALYSIS</a:t>
            </a:r>
            <a:endParaRPr lang="en-IN" sz="4000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SHAP </a:t>
            </a:r>
            <a:r>
              <a:rPr lang="en-US" b="1" dirty="0"/>
              <a:t>Analysis – Explaining Model Decisions for High-Risk </a:t>
            </a:r>
            <a:r>
              <a:rPr lang="en-US" b="1" dirty="0" smtClean="0"/>
              <a:t>Firms</a:t>
            </a:r>
          </a:p>
          <a:p>
            <a:r>
              <a:rPr lang="en-US" dirty="0"/>
              <a:t>Focused SHAP analysis on </a:t>
            </a:r>
            <a:r>
              <a:rPr lang="en-US" b="1" dirty="0"/>
              <a:t>Class 3 (Highly Speculative)</a:t>
            </a:r>
            <a:r>
              <a:rPr lang="en-US" dirty="0"/>
              <a:t> to understand what drives high-risk </a:t>
            </a:r>
            <a:r>
              <a:rPr lang="en-US" dirty="0" smtClean="0"/>
              <a:t>classification for XGBoost Models.</a:t>
            </a:r>
          </a:p>
          <a:p>
            <a:r>
              <a:rPr lang="en-US" b="1" dirty="0" smtClean="0"/>
              <a:t>Key Drivers: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-&gt;</a:t>
            </a:r>
            <a:r>
              <a:rPr lang="en-IN" dirty="0"/>
              <a:t>Low operating cash </a:t>
            </a:r>
            <a:r>
              <a:rPr lang="en-IN" dirty="0" smtClean="0"/>
              <a:t>flows</a:t>
            </a:r>
          </a:p>
          <a:p>
            <a:pPr marL="0" indent="0">
              <a:buNone/>
            </a:pPr>
            <a:r>
              <a:rPr lang="en-US" b="1" dirty="0"/>
              <a:t> </a:t>
            </a:r>
            <a:r>
              <a:rPr lang="en-US" b="1" dirty="0" smtClean="0"/>
              <a:t> -&gt;</a:t>
            </a:r>
            <a:r>
              <a:rPr lang="en-IN" dirty="0"/>
              <a:t>high debt </a:t>
            </a:r>
            <a:r>
              <a:rPr lang="en-IN" dirty="0" smtClean="0"/>
              <a:t>ratio</a:t>
            </a:r>
          </a:p>
          <a:p>
            <a:pPr marL="0" indent="0">
              <a:buNone/>
            </a:pPr>
            <a:r>
              <a:rPr lang="en-US" dirty="0" smtClean="0"/>
              <a:t>  -&gt;</a:t>
            </a:r>
            <a:r>
              <a:rPr lang="en-IN" dirty="0"/>
              <a:t>weak tax efficiency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799" y="3348512"/>
            <a:ext cx="5868219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6748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IN" dirty="0" smtClean="0">
                <a:latin typeface="Bahnschrift Condensed" panose="020B0502040204020203" pitchFamily="34" charset="0"/>
              </a:rPr>
              <a:t>Conclusion: Key Takeaways</a:t>
            </a:r>
            <a:endParaRPr lang="en-IN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9441"/>
            <a:ext cx="10515600" cy="4351338"/>
          </a:xfrm>
        </p:spPr>
        <p:txBody>
          <a:bodyPr>
            <a:normAutofit/>
          </a:bodyPr>
          <a:lstStyle/>
          <a:p>
            <a:r>
              <a:rPr lang="en-US" sz="1800" b="1" dirty="0" smtClean="0"/>
              <a:t>Objective</a:t>
            </a:r>
            <a:r>
              <a:rPr lang="en-US" sz="1800" dirty="0" smtClean="0"/>
              <a:t>: Predict credit ratings and classify companies into risk categories.</a:t>
            </a:r>
            <a:endParaRPr lang="en-IN" sz="1800" dirty="0"/>
          </a:p>
          <a:p>
            <a:r>
              <a:rPr lang="en-US" sz="1800" b="1" dirty="0" smtClean="0"/>
              <a:t>Feature Engineering</a:t>
            </a:r>
            <a:r>
              <a:rPr lang="en-US" sz="1800" dirty="0" smtClean="0"/>
              <a:t>: Handled missing values, applied encoding to categorical variables, and scaled the features for better model performance.</a:t>
            </a:r>
          </a:p>
          <a:p>
            <a:r>
              <a:rPr lang="en-IN" sz="1800" b="1" dirty="0" smtClean="0"/>
              <a:t>Class Imbalance</a:t>
            </a:r>
            <a:r>
              <a:rPr lang="en-IN" sz="1800" dirty="0" smtClean="0"/>
              <a:t>: </a:t>
            </a:r>
            <a:r>
              <a:rPr lang="en-US" sz="1800" dirty="0" smtClean="0"/>
              <a:t>Addressed via </a:t>
            </a:r>
            <a:r>
              <a:rPr lang="en-US" sz="1800" b="1" dirty="0" smtClean="0"/>
              <a:t>relabeling</a:t>
            </a:r>
            <a:r>
              <a:rPr lang="en-US" sz="1800" dirty="0" smtClean="0"/>
              <a:t> ratings into broader risk groups and used </a:t>
            </a:r>
            <a:r>
              <a:rPr lang="en-US" sz="1800" b="1" dirty="0" smtClean="0"/>
              <a:t>SMOTE</a:t>
            </a:r>
            <a:r>
              <a:rPr lang="en-US" sz="1800" dirty="0" smtClean="0"/>
              <a:t> for balancing the data, improving performance on rare classes like </a:t>
            </a:r>
            <a:r>
              <a:rPr lang="en-US" sz="1800" b="1" dirty="0" smtClean="0"/>
              <a:t>Highly Speculative</a:t>
            </a:r>
            <a:r>
              <a:rPr lang="en-US" sz="1800" dirty="0" smtClean="0"/>
              <a:t>.</a:t>
            </a:r>
          </a:p>
          <a:p>
            <a:r>
              <a:rPr lang="en-US" sz="1800" b="1" dirty="0" smtClean="0"/>
              <a:t>Modeling</a:t>
            </a:r>
            <a:r>
              <a:rPr lang="en-US" sz="1800" dirty="0" smtClean="0"/>
              <a:t>: Optimized models (</a:t>
            </a:r>
            <a:r>
              <a:rPr lang="en-US" sz="1800" b="1" dirty="0" smtClean="0"/>
              <a:t>XGBoost</a:t>
            </a:r>
            <a:r>
              <a:rPr lang="en-US" sz="1800" dirty="0" smtClean="0"/>
              <a:t> and </a:t>
            </a:r>
            <a:r>
              <a:rPr lang="en-US" sz="1800" b="1" dirty="0" smtClean="0"/>
              <a:t>Random Forest</a:t>
            </a:r>
            <a:r>
              <a:rPr lang="en-US" sz="1800" dirty="0" smtClean="0"/>
              <a:t>) with </a:t>
            </a:r>
            <a:r>
              <a:rPr lang="en-US" sz="1800" b="1" dirty="0" smtClean="0"/>
              <a:t>hyperparameter tuning</a:t>
            </a:r>
            <a:r>
              <a:rPr lang="en-US" sz="1800" dirty="0" smtClean="0"/>
              <a:t> for better class balance and recall.</a:t>
            </a:r>
          </a:p>
          <a:p>
            <a:r>
              <a:rPr lang="en-US" sz="1800" b="1" dirty="0" smtClean="0"/>
              <a:t>Feature Importance</a:t>
            </a:r>
            <a:r>
              <a:rPr lang="en-US" sz="1800" dirty="0" smtClean="0"/>
              <a:t>: Top features such as </a:t>
            </a:r>
            <a:r>
              <a:rPr lang="en-US" sz="1800" b="1" dirty="0" smtClean="0"/>
              <a:t>operating cash flow per share</a:t>
            </a:r>
            <a:r>
              <a:rPr lang="en-US" sz="1800" dirty="0" smtClean="0"/>
              <a:t>, </a:t>
            </a:r>
            <a:r>
              <a:rPr lang="en-US" sz="1800" b="1" dirty="0" smtClean="0"/>
              <a:t>return on capital employed</a:t>
            </a:r>
            <a:r>
              <a:rPr lang="en-US" sz="1800" dirty="0" smtClean="0"/>
              <a:t>, and </a:t>
            </a:r>
            <a:r>
              <a:rPr lang="en-US" sz="1800" b="1" dirty="0" smtClean="0"/>
              <a:t>effective tax rate</a:t>
            </a:r>
            <a:r>
              <a:rPr lang="en-US" sz="1800" dirty="0" smtClean="0"/>
              <a:t> played a major role in predictions.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  <a:r>
              <a:rPr lang="en-US" sz="1800" b="1" dirty="0" smtClean="0"/>
              <a:t>   Next Step</a:t>
            </a:r>
          </a:p>
          <a:p>
            <a:r>
              <a:rPr lang="en-US" sz="1800" b="1" dirty="0" smtClean="0"/>
              <a:t>Enhance Data Diversity</a:t>
            </a:r>
            <a:r>
              <a:rPr lang="en-US" sz="1800" dirty="0" smtClean="0"/>
              <a:t>: Collect more diverse data across industries or generate </a:t>
            </a:r>
            <a:r>
              <a:rPr lang="en-US" sz="1800" b="1" dirty="0" smtClean="0"/>
              <a:t>synthetic data</a:t>
            </a:r>
            <a:r>
              <a:rPr lang="en-US" sz="1800" dirty="0" smtClean="0"/>
              <a:t> to improve model robustness, particularly for rare classes.</a:t>
            </a:r>
            <a:endParaRPr lang="en-US" sz="1800" b="1" dirty="0" smtClean="0"/>
          </a:p>
          <a:p>
            <a:pPr marL="0" indent="0">
              <a:buNone/>
            </a:pPr>
            <a:endParaRPr lang="en-US" sz="1800" dirty="0" smtClean="0"/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4264760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577" y="7969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800" b="1" dirty="0"/>
              <a:t> </a:t>
            </a:r>
            <a:r>
              <a:rPr lang="en-US" sz="8800" b="1" dirty="0" smtClean="0"/>
              <a:t>             </a:t>
            </a:r>
          </a:p>
          <a:p>
            <a:pPr marL="0" indent="0">
              <a:buNone/>
            </a:pPr>
            <a:r>
              <a:rPr lang="en-US" sz="8800" b="1" dirty="0"/>
              <a:t> </a:t>
            </a:r>
            <a:r>
              <a:rPr lang="en-US" sz="8800" b="1" dirty="0" smtClean="0"/>
              <a:t>              Q&amp;A</a:t>
            </a:r>
            <a:endParaRPr lang="en-IN" sz="8800" b="1" dirty="0"/>
          </a:p>
        </p:txBody>
      </p:sp>
    </p:spTree>
    <p:extLst>
      <p:ext uri="{BB962C8B-B14F-4D97-AF65-F5344CB8AC3E}">
        <p14:creationId xmlns:p14="http://schemas.microsoft.com/office/powerpoint/2010/main" val="2443719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8574"/>
            <a:ext cx="10515600" cy="5728389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Why Not Use 5-Level Risk Grouping? (Rejected Option)</a:t>
            </a:r>
          </a:p>
          <a:p>
            <a:pPr marL="0" indent="0">
              <a:buNone/>
            </a:pPr>
            <a:r>
              <a:rPr lang="en-US" sz="2000" dirty="0" smtClean="0"/>
              <a:t>Alternative Grouping Idea (Not Used)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smtClean="0"/>
              <a:t>Issue</a:t>
            </a:r>
            <a:r>
              <a:rPr lang="en-US" sz="2000" smtClean="0"/>
              <a:t>: “Lowest Risk” class has only 7 samples — </a:t>
            </a:r>
            <a:r>
              <a:rPr lang="en-US" sz="2000" b="1" smtClean="0"/>
              <a:t>too imbalanced for training or resampling</a:t>
            </a:r>
            <a:r>
              <a:rPr lang="en-US" sz="2000" smtClean="0"/>
              <a:t>.</a:t>
            </a: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US" sz="2000" dirty="0" smtClean="0"/>
          </a:p>
          <a:p>
            <a:pPr marL="0" indent="0"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000" dirty="0" smtClean="0"/>
          </a:p>
          <a:p>
            <a:endParaRPr lang="en-IN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08012297"/>
              </p:ext>
            </p:extLst>
          </p:nvPr>
        </p:nvGraphicFramePr>
        <p:xfrm>
          <a:off x="838200" y="1561380"/>
          <a:ext cx="449963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819">
                  <a:extLst>
                    <a:ext uri="{9D8B030D-6E8A-4147-A177-3AD203B41FA5}">
                      <a16:colId xmlns:a16="http://schemas.microsoft.com/office/drawing/2014/main" val="3831163967"/>
                    </a:ext>
                  </a:extLst>
                </a:gridCol>
                <a:gridCol w="2249819">
                  <a:extLst>
                    <a:ext uri="{9D8B030D-6E8A-4147-A177-3AD203B41FA5}">
                      <a16:colId xmlns:a16="http://schemas.microsoft.com/office/drawing/2014/main" val="164068944"/>
                    </a:ext>
                  </a:extLst>
                </a:gridCol>
              </a:tblGrid>
              <a:tr h="315439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Rating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Grouped Label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0924000"/>
                  </a:ext>
                </a:extLst>
              </a:tr>
              <a:tr h="315439">
                <a:tc>
                  <a:txBody>
                    <a:bodyPr/>
                    <a:lstStyle/>
                    <a:p>
                      <a:r>
                        <a:rPr lang="en-US" dirty="0" smtClean="0"/>
                        <a:t>AAA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Lowest Risk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678455"/>
                  </a:ext>
                </a:extLst>
              </a:tr>
              <a:tr h="315439">
                <a:tc>
                  <a:txBody>
                    <a:bodyPr/>
                    <a:lstStyle/>
                    <a:p>
                      <a:r>
                        <a:rPr lang="en-US" smtClean="0"/>
                        <a:t>AA,A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Low Risk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7384250"/>
                  </a:ext>
                </a:extLst>
              </a:tr>
              <a:tr h="315439">
                <a:tc>
                  <a:txBody>
                    <a:bodyPr/>
                    <a:lstStyle/>
                    <a:p>
                      <a:r>
                        <a:rPr lang="en-US" dirty="0" smtClean="0"/>
                        <a:t>BBB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Medium Risk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499848"/>
                  </a:ext>
                </a:extLst>
              </a:tr>
              <a:tr h="315439">
                <a:tc>
                  <a:txBody>
                    <a:bodyPr/>
                    <a:lstStyle/>
                    <a:p>
                      <a:r>
                        <a:rPr lang="en-US" smtClean="0"/>
                        <a:t>BBB,B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High Risk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489382"/>
                  </a:ext>
                </a:extLst>
              </a:tr>
              <a:tr h="315439">
                <a:tc>
                  <a:txBody>
                    <a:bodyPr/>
                    <a:lstStyle/>
                    <a:p>
                      <a:r>
                        <a:rPr lang="en-US" smtClean="0"/>
                        <a:t>CCC,CC,C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Highest Risk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687204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0862673"/>
              </p:ext>
            </p:extLst>
          </p:nvPr>
        </p:nvGraphicFramePr>
        <p:xfrm>
          <a:off x="6072520" y="1561380"/>
          <a:ext cx="43390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9544">
                  <a:extLst>
                    <a:ext uri="{9D8B030D-6E8A-4147-A177-3AD203B41FA5}">
                      <a16:colId xmlns:a16="http://schemas.microsoft.com/office/drawing/2014/main" val="2713593667"/>
                    </a:ext>
                  </a:extLst>
                </a:gridCol>
                <a:gridCol w="2169544">
                  <a:extLst>
                    <a:ext uri="{9D8B030D-6E8A-4147-A177-3AD203B41FA5}">
                      <a16:colId xmlns:a16="http://schemas.microsoft.com/office/drawing/2014/main" val="1579112266"/>
                    </a:ext>
                  </a:extLst>
                </a:gridCol>
              </a:tblGrid>
              <a:tr h="305375">
                <a:tc>
                  <a:txBody>
                    <a:bodyPr/>
                    <a:lstStyle/>
                    <a:p>
                      <a:r>
                        <a:rPr lang="en-US" smtClean="0">
                          <a:solidFill>
                            <a:schemeClr val="tx1"/>
                          </a:solidFill>
                        </a:rPr>
                        <a:t>Risk</a:t>
                      </a:r>
                      <a:r>
                        <a:rPr lang="en-US" baseline="0" smtClean="0">
                          <a:solidFill>
                            <a:schemeClr val="tx1"/>
                          </a:solidFill>
                        </a:rPr>
                        <a:t> level</a:t>
                      </a:r>
                      <a:endParaRPr lang="en-I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Count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63218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r>
                        <a:rPr lang="en-US" smtClean="0"/>
                        <a:t>AAA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827280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r>
                        <a:rPr lang="en-US" smtClean="0"/>
                        <a:t>AA,A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487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536789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r>
                        <a:rPr lang="en-US" smtClean="0"/>
                        <a:t>BBB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3626685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r>
                        <a:rPr lang="en-US" smtClean="0"/>
                        <a:t>BB,B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mtClean="0"/>
                        <a:t>792</a:t>
                      </a:r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1693692"/>
                  </a:ext>
                </a:extLst>
              </a:tr>
              <a:tr h="305375">
                <a:tc>
                  <a:txBody>
                    <a:bodyPr/>
                    <a:lstStyle/>
                    <a:p>
                      <a:r>
                        <a:rPr lang="en-US" smtClean="0"/>
                        <a:t>CCC,CC,C</a:t>
                      </a:r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6070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365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FSPANMODE" val="span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3126</TotalTime>
  <Words>1706</Words>
  <Application>Microsoft Office PowerPoint</Application>
  <PresentationFormat>Widescreen</PresentationFormat>
  <Paragraphs>318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9" baseType="lpstr">
      <vt:lpstr>Arial</vt:lpstr>
      <vt:lpstr>Arial Narrow</vt:lpstr>
      <vt:lpstr>Bahnschrift Condensed</vt:lpstr>
      <vt:lpstr>Calibri</vt:lpstr>
      <vt:lpstr>Calibri Light</vt:lpstr>
      <vt:lpstr>Wingdings</vt:lpstr>
      <vt:lpstr>Office Theme</vt:lpstr>
      <vt:lpstr>Credit Rating Prediction using Machine Learning</vt:lpstr>
      <vt:lpstr>Agenda</vt:lpstr>
      <vt:lpstr>Project Overview &amp; Objective</vt:lpstr>
      <vt:lpstr>Data Overview</vt:lpstr>
      <vt:lpstr>PowerPoint Presentation</vt:lpstr>
      <vt:lpstr>Data Cleaning Strategy – TOMI + KNN Imputation</vt:lpstr>
      <vt:lpstr>PowerPoint Presentation</vt:lpstr>
      <vt:lpstr>Exploratory Data Analysis (EDA)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Building &amp; Challenges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SHAP ANALYSIS</vt:lpstr>
      <vt:lpstr>Conclusion: Key Takeaways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 Rating Prediction using Machine Learning</dc:title>
  <dc:creator>LENOVO</dc:creator>
  <cp:lastModifiedBy>LENOVO</cp:lastModifiedBy>
  <cp:revision>61</cp:revision>
  <dcterms:created xsi:type="dcterms:W3CDTF">2025-03-29T06:33:43Z</dcterms:created>
  <dcterms:modified xsi:type="dcterms:W3CDTF">2025-03-31T10:42:52Z</dcterms:modified>
</cp:coreProperties>
</file>